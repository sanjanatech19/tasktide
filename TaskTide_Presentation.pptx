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1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37160" cy="4114800"/>
          </a:xfrm>
          <a:prstGeom prst="rect">
            <a:avLst/>
          </a:prstGeom>
          <a:solidFill>
            <a:srgbClr val="88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280160"/>
            <a:ext cx="10058400" cy="2011680"/>
          </a:xfrm>
          <a:prstGeom prst="rect">
            <a:avLst/>
          </a:prstGeom>
          <a:noFill/>
        </p:spPr>
        <p:txBody>
          <a:bodyPr wrap="square">
            <a:spAutoFit/>
          </a:bodyPr>
          <a:lstStyle/>
          <a:p>
            <a:pPr>
              <a:defRPr sz="5000" b="1">
                <a:solidFill>
                  <a:srgbClr val="FFFFFF"/>
                </a:solidFill>
                <a:latin typeface="Arial"/>
              </a:defRPr>
            </a:pPr>
            <a:r>
              <a:t>TaskTide</a:t>
            </a:r>
          </a:p>
          <a:p>
            <a:pPr>
              <a:spcBef>
                <a:spcPts val="1000"/>
              </a:spcBef>
              <a:defRPr sz="2000">
                <a:solidFill>
                  <a:srgbClr val="8878F5"/>
                </a:solidFill>
                <a:latin typeface="Arial"/>
              </a:defRPr>
            </a:pPr>
            <a:r>
              <a:t>Intelligent Workload Planning &amp; Constraint-Based Scheduling System</a:t>
            </a:r>
          </a:p>
          <a:p>
            <a:pPr>
              <a:spcBef>
                <a:spcPts val="800"/>
              </a:spcBef>
              <a:defRPr sz="1300">
                <a:solidFill>
                  <a:srgbClr val="64748B"/>
                </a:solidFill>
                <a:latin typeface="Arial"/>
              </a:defRPr>
            </a:pPr>
            <a:r>
              <a:t>A Mathematical Feasibility Platform Moving Beyond Passive To-Do Tracking</a:t>
            </a:r>
          </a:p>
        </p:txBody>
      </p:sp>
      <p:sp>
        <p:nvSpPr>
          <p:cNvPr id="5" name="Rounded Rectangle 4"/>
          <p:cNvSpPr/>
          <p:nvPr/>
        </p:nvSpPr>
        <p:spPr>
          <a:xfrm>
            <a:off x="1097280" y="3840480"/>
            <a:ext cx="5486400" cy="1828800"/>
          </a:xfrm>
          <a:prstGeom prst="roundRect">
            <a:avLst/>
          </a:prstGeom>
          <a:solidFill>
            <a:srgbClr val="151A2D"/>
          </a:solidFill>
          <a:ln w="19050">
            <a:solidFill>
              <a:srgbClr val="887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977639"/>
            <a:ext cx="4937760" cy="1554480"/>
          </a:xfrm>
          <a:prstGeom prst="rect">
            <a:avLst/>
          </a:prstGeom>
          <a:noFill/>
        </p:spPr>
        <p:txBody>
          <a:bodyPr wrap="square">
            <a:spAutoFit/>
          </a:bodyPr>
          <a:lstStyle/>
          <a:p>
            <a:pPr>
              <a:defRPr sz="1000" b="1">
                <a:solidFill>
                  <a:srgbClr val="10B981"/>
                </a:solidFill>
                <a:latin typeface="Arial"/>
              </a:defRPr>
            </a:pPr>
            <a:r>
              <a:t>DEVELOPED BY</a:t>
            </a:r>
          </a:p>
          <a:p>
            <a:pPr>
              <a:spcBef>
                <a:spcPts val="400"/>
              </a:spcBef>
              <a:defRPr sz="2000" b="1">
                <a:solidFill>
                  <a:srgbClr val="FFFFFF"/>
                </a:solidFill>
                <a:latin typeface="Arial"/>
              </a:defRPr>
            </a:pPr>
            <a:r>
              <a:t>Team: Lady Bugs</a:t>
            </a:r>
          </a:p>
          <a:p>
            <a:pPr>
              <a:spcBef>
                <a:spcPts val="600"/>
              </a:spcBef>
              <a:defRPr sz="1400">
                <a:solidFill>
                  <a:srgbClr val="8878F5"/>
                </a:solidFill>
                <a:latin typeface="Arial"/>
              </a:defRPr>
            </a:pPr>
            <a:r>
              <a:t>Team Members: Sanjana Rajasekar &amp; Anugraha P J</a:t>
            </a:r>
          </a:p>
        </p:txBody>
      </p:sp>
      <p:sp>
        <p:nvSpPr>
          <p:cNvPr id="7" name="Rounded Rectangle 6"/>
          <p:cNvSpPr/>
          <p:nvPr/>
        </p:nvSpPr>
        <p:spPr>
          <a:xfrm>
            <a:off x="6858000" y="3840480"/>
            <a:ext cx="4297680" cy="1828800"/>
          </a:xfrm>
          <a:prstGeom prst="roundRect">
            <a:avLst/>
          </a:prstGeom>
          <a:solidFill>
            <a:srgbClr val="1E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0" y="4069080"/>
            <a:ext cx="3749039" cy="1371600"/>
          </a:xfrm>
          <a:prstGeom prst="rect">
            <a:avLst/>
          </a:prstGeom>
          <a:noFill/>
        </p:spPr>
        <p:txBody>
          <a:bodyPr wrap="square">
            <a:spAutoFit/>
          </a:bodyPr>
          <a:lstStyle/>
          <a:p>
            <a:pPr>
              <a:defRPr sz="1400" b="1">
                <a:solidFill>
                  <a:srgbClr val="FFFFFF"/>
                </a:solidFill>
                <a:latin typeface="Arial"/>
              </a:defRPr>
            </a:pPr>
            <a:r>
              <a:t>🎯 Core Differentiators</a:t>
            </a:r>
          </a:p>
          <a:p>
            <a:pPr>
              <a:spcBef>
                <a:spcPts val="300"/>
              </a:spcBef>
              <a:defRPr sz="1100">
                <a:solidFill>
                  <a:srgbClr val="CBD5E1"/>
                </a:solidFill>
                <a:latin typeface="Arial"/>
              </a:defRPr>
            </a:pPr>
            <a:r>
              <a:t>• Google OR-Tools CP-SAT Solver</a:t>
            </a:r>
          </a:p>
          <a:p>
            <a:pPr>
              <a:spcBef>
                <a:spcPts val="300"/>
              </a:spcBef>
              <a:defRPr sz="1100">
                <a:solidFill>
                  <a:srgbClr val="CBD5E1"/>
                </a:solidFill>
                <a:latin typeface="Arial"/>
              </a:defRPr>
            </a:pPr>
            <a:r>
              <a:t>• Honest Infeasibility &amp; Deficit Flagging</a:t>
            </a:r>
          </a:p>
          <a:p>
            <a:pPr>
              <a:spcBef>
                <a:spcPts val="300"/>
              </a:spcBef>
              <a:defRPr sz="1100">
                <a:solidFill>
                  <a:srgbClr val="CBD5E1"/>
                </a:solidFill>
                <a:latin typeface="Arial"/>
              </a:defRPr>
            </a:pPr>
            <a:r>
              <a:t>• Non-Overlapping Fixed vs. Flexible Grid</a:t>
            </a:r>
          </a:p>
          <a:p>
            <a:pPr>
              <a:spcBef>
                <a:spcPts val="300"/>
              </a:spcBef>
              <a:defRPr sz="1100">
                <a:solidFill>
                  <a:srgbClr val="CBD5E1"/>
                </a:solidFill>
                <a:latin typeface="Arial"/>
              </a:defRPr>
            </a:pPr>
            <a:r>
              <a:t>• Personalized Duration Drift Calibration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a:spAutoFit/>
          </a:bodyPr>
          <a:lstStyle/>
          <a:p>
            <a:pPr>
              <a:defRPr sz="1100" b="1">
                <a:solidFill>
                  <a:srgbClr val="8878F5"/>
                </a:solidFill>
                <a:latin typeface="Arial"/>
              </a:defRPr>
            </a:pPr>
            <a:r>
              <a:t>THE REAL-WORLD CHALLENGE</a:t>
            </a:r>
          </a:p>
        </p:txBody>
      </p:sp>
      <p:sp>
        <p:nvSpPr>
          <p:cNvPr id="4" name="TextBox 3"/>
          <p:cNvSpPr txBox="1"/>
          <p:nvPr/>
        </p:nvSpPr>
        <p:spPr>
          <a:xfrm>
            <a:off x="731520" y="731520"/>
            <a:ext cx="10515600" cy="731520"/>
          </a:xfrm>
          <a:prstGeom prst="rect">
            <a:avLst/>
          </a:prstGeom>
          <a:noFill/>
        </p:spPr>
        <p:txBody>
          <a:bodyPr wrap="square">
            <a:spAutoFit/>
          </a:bodyPr>
          <a:lstStyle/>
          <a:p>
            <a:pPr>
              <a:defRPr sz="2400" b="1">
                <a:solidFill>
                  <a:srgbClr val="151A2D"/>
                </a:solidFill>
                <a:latin typeface="Arial"/>
              </a:defRPr>
            </a:pPr>
            <a:r>
              <a:t>Problem Statement: The Illusion of Feasibility</a:t>
            </a:r>
          </a:p>
        </p:txBody>
      </p:sp>
      <p:sp>
        <p:nvSpPr>
          <p:cNvPr id="5" name="Rounded Rectangle 4"/>
          <p:cNvSpPr/>
          <p:nvPr/>
        </p:nvSpPr>
        <p:spPr>
          <a:xfrm>
            <a:off x="731520" y="1554480"/>
            <a:ext cx="10728655" cy="1051560"/>
          </a:xfrm>
          <a:prstGeom prst="roundRect">
            <a:avLst/>
          </a:prstGeom>
          <a:solidFill>
            <a:srgbClr val="FFFFFF"/>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10241280" cy="868680"/>
          </a:xfrm>
          <a:prstGeom prst="rect">
            <a:avLst/>
          </a:prstGeom>
          <a:noFill/>
        </p:spPr>
        <p:txBody>
          <a:bodyPr wrap="square">
            <a:spAutoFit/>
          </a:bodyPr>
          <a:lstStyle/>
          <a:p>
            <a:pPr>
              <a:defRPr sz="1300">
                <a:solidFill>
                  <a:srgbClr val="1E293B"/>
                </a:solidFill>
                <a:latin typeface="Arial"/>
              </a:defRPr>
            </a:pPr>
            <a:r>
              <a:t>Existing productivity tools (Todoist, Notion, Trello, Google Calendar) track WHAT is due and WHEN, but are mathematically blind to time capacity. They allow users to plan 35 hours of work into a window that only has 12 free hours, leading directly to deadline panics, sleep deprivation, and burnout.</a:t>
            </a:r>
          </a:p>
        </p:txBody>
      </p:sp>
      <p:sp>
        <p:nvSpPr>
          <p:cNvPr id="7" name="Rounded Rectangle 6"/>
          <p:cNvSpPr/>
          <p:nvPr/>
        </p:nvSpPr>
        <p:spPr>
          <a:xfrm>
            <a:off x="731520" y="2834640"/>
            <a:ext cx="2542032" cy="3474720"/>
          </a:xfrm>
          <a:prstGeom prst="roundRect">
            <a:avLst/>
          </a:prstGeom>
          <a:solidFill>
            <a:srgbClr val="FFFFFF"/>
          </a:solidFill>
          <a:ln w="19050">
            <a:solidFill>
              <a:srgbClr val="E5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834640"/>
            <a:ext cx="2542032" cy="10972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08960"/>
            <a:ext cx="2176272" cy="3017520"/>
          </a:xfrm>
          <a:prstGeom prst="rect">
            <a:avLst/>
          </a:prstGeom>
          <a:noFill/>
        </p:spPr>
        <p:txBody>
          <a:bodyPr wrap="square">
            <a:spAutoFit/>
          </a:bodyPr>
          <a:lstStyle/>
          <a:p>
            <a:pPr>
              <a:defRPr sz="1600" b="1">
                <a:solidFill>
                  <a:srgbClr val="151A2D"/>
                </a:solidFill>
                <a:latin typeface="Arial"/>
              </a:defRPr>
            </a:pPr>
            <a:r>
              <a:t>Capacity Blindness</a:t>
            </a:r>
          </a:p>
          <a:p>
            <a:pPr>
              <a:spcBef>
                <a:spcPts val="400"/>
              </a:spcBef>
              <a:defRPr sz="1000" b="1">
                <a:solidFill>
                  <a:srgbClr val="F43F5E"/>
                </a:solidFill>
                <a:latin typeface="Arial"/>
              </a:defRPr>
            </a:pPr>
            <a:r>
              <a:t>NO CUMULATIVE MATH</a:t>
            </a:r>
          </a:p>
          <a:p>
            <a:pPr>
              <a:spcBef>
                <a:spcPts val="1200"/>
              </a:spcBef>
              <a:defRPr sz="1200">
                <a:solidFill>
                  <a:srgbClr val="64748B"/>
                </a:solidFill>
                <a:latin typeface="Arial"/>
              </a:defRPr>
            </a:pPr>
            <a:r>
              <a:t>Checklists treat tasks in isolation, failing to compute the cumulative hours required versus available unblocked hours before cutoff dates.</a:t>
            </a:r>
          </a:p>
        </p:txBody>
      </p:sp>
      <p:sp>
        <p:nvSpPr>
          <p:cNvPr id="10" name="Rounded Rectangle 9"/>
          <p:cNvSpPr/>
          <p:nvPr/>
        </p:nvSpPr>
        <p:spPr>
          <a:xfrm>
            <a:off x="3456432" y="2834640"/>
            <a:ext cx="2542032" cy="3474720"/>
          </a:xfrm>
          <a:prstGeom prst="roundRect">
            <a:avLst/>
          </a:prstGeom>
          <a:solidFill>
            <a:srgbClr val="FFFFFF"/>
          </a:solidFill>
          <a:ln w="19050">
            <a:solidFill>
              <a:srgbClr val="E5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56432" y="2834640"/>
            <a:ext cx="2542032"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9312" y="3108960"/>
            <a:ext cx="2176272" cy="3017520"/>
          </a:xfrm>
          <a:prstGeom prst="rect">
            <a:avLst/>
          </a:prstGeom>
          <a:noFill/>
        </p:spPr>
        <p:txBody>
          <a:bodyPr wrap="square">
            <a:spAutoFit/>
          </a:bodyPr>
          <a:lstStyle/>
          <a:p>
            <a:pPr>
              <a:defRPr sz="1600" b="1">
                <a:solidFill>
                  <a:srgbClr val="151A2D"/>
                </a:solidFill>
                <a:latin typeface="Arial"/>
              </a:defRPr>
            </a:pPr>
            <a:r>
              <a:t>Schedule Collisions</a:t>
            </a:r>
          </a:p>
          <a:p>
            <a:pPr>
              <a:spcBef>
                <a:spcPts val="400"/>
              </a:spcBef>
              <a:defRPr sz="1000" b="1">
                <a:solidFill>
                  <a:srgbClr val="F59E0B"/>
                </a:solidFill>
                <a:latin typeface="Arial"/>
              </a:defRPr>
            </a:pPr>
            <a:r>
              <a:t>FIXED VS. FLEXIBLE CLASH</a:t>
            </a:r>
          </a:p>
          <a:p>
            <a:pPr>
              <a:spcBef>
                <a:spcPts val="1200"/>
              </a:spcBef>
              <a:defRPr sz="1200">
                <a:solidFill>
                  <a:srgbClr val="64748B"/>
                </a:solidFill>
                <a:latin typeface="Arial"/>
              </a:defRPr>
            </a:pPr>
            <a:r>
              <a:t>Users struggle to reconcile unmovable commitments (lectures, labs, shifts) with flexible tasks, causing constant manual re-planning.</a:t>
            </a:r>
          </a:p>
        </p:txBody>
      </p:sp>
      <p:sp>
        <p:nvSpPr>
          <p:cNvPr id="13" name="Rounded Rectangle 12"/>
          <p:cNvSpPr/>
          <p:nvPr/>
        </p:nvSpPr>
        <p:spPr>
          <a:xfrm>
            <a:off x="6181344" y="2834640"/>
            <a:ext cx="2542032" cy="3474720"/>
          </a:xfrm>
          <a:prstGeom prst="roundRect">
            <a:avLst/>
          </a:prstGeom>
          <a:solidFill>
            <a:srgbClr val="FFFFFF"/>
          </a:solidFill>
          <a:ln w="19050">
            <a:solidFill>
              <a:srgbClr val="E5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1344" y="2834640"/>
            <a:ext cx="2542032" cy="109728"/>
          </a:xfrm>
          <a:prstGeom prst="rect">
            <a:avLst/>
          </a:prstGeom>
          <a:solidFill>
            <a:srgbClr val="88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3108960"/>
            <a:ext cx="2176272" cy="3017520"/>
          </a:xfrm>
          <a:prstGeom prst="rect">
            <a:avLst/>
          </a:prstGeom>
          <a:noFill/>
        </p:spPr>
        <p:txBody>
          <a:bodyPr wrap="square">
            <a:spAutoFit/>
          </a:bodyPr>
          <a:lstStyle/>
          <a:p>
            <a:pPr>
              <a:defRPr sz="1600" b="1">
                <a:solidFill>
                  <a:srgbClr val="151A2D"/>
                </a:solidFill>
                <a:latin typeface="Arial"/>
              </a:defRPr>
            </a:pPr>
            <a:r>
              <a:t>Cascading Failures</a:t>
            </a:r>
          </a:p>
          <a:p>
            <a:pPr>
              <a:spcBef>
                <a:spcPts val="400"/>
              </a:spcBef>
              <a:defRPr sz="1000" b="1">
                <a:solidFill>
                  <a:srgbClr val="8878F5"/>
                </a:solidFill>
                <a:latin typeface="Arial"/>
              </a:defRPr>
            </a:pPr>
            <a:r>
              <a:t>NO WHAT-IF INSIGHT</a:t>
            </a:r>
          </a:p>
          <a:p>
            <a:pPr>
              <a:spcBef>
                <a:spcPts val="1200"/>
              </a:spcBef>
              <a:defRPr sz="1200">
                <a:solidFill>
                  <a:srgbClr val="64748B"/>
                </a:solidFill>
                <a:latin typeface="Arial"/>
              </a:defRPr>
            </a:pPr>
            <a:r>
              <a:t>A single unexpected 3-hour lab or sick day silently cascades across the entire week, breaking downstream deadlines without any advance warning.</a:t>
            </a:r>
          </a:p>
        </p:txBody>
      </p:sp>
      <p:sp>
        <p:nvSpPr>
          <p:cNvPr id="16" name="Rounded Rectangle 15"/>
          <p:cNvSpPr/>
          <p:nvPr/>
        </p:nvSpPr>
        <p:spPr>
          <a:xfrm>
            <a:off x="8906256" y="2834640"/>
            <a:ext cx="2542032" cy="3474720"/>
          </a:xfrm>
          <a:prstGeom prst="roundRect">
            <a:avLst/>
          </a:prstGeom>
          <a:solidFill>
            <a:srgbClr val="FFFFFF"/>
          </a:solidFill>
          <a:ln w="19050">
            <a:solidFill>
              <a:srgbClr val="E5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06256" y="2834640"/>
            <a:ext cx="2542032" cy="109728"/>
          </a:xfrm>
          <a:prstGeom prst="rect">
            <a:avLst/>
          </a:prstGeom>
          <a:solidFill>
            <a:srgbClr val="151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89136" y="3108960"/>
            <a:ext cx="2176272" cy="3017520"/>
          </a:xfrm>
          <a:prstGeom prst="rect">
            <a:avLst/>
          </a:prstGeom>
          <a:noFill/>
        </p:spPr>
        <p:txBody>
          <a:bodyPr wrap="square">
            <a:spAutoFit/>
          </a:bodyPr>
          <a:lstStyle/>
          <a:p>
            <a:pPr>
              <a:defRPr sz="1600" b="1">
                <a:solidFill>
                  <a:srgbClr val="151A2D"/>
                </a:solidFill>
                <a:latin typeface="Arial"/>
              </a:defRPr>
            </a:pPr>
            <a:r>
              <a:t>Planning Fallacy</a:t>
            </a:r>
          </a:p>
          <a:p>
            <a:pPr>
              <a:spcBef>
                <a:spcPts val="400"/>
              </a:spcBef>
              <a:defRPr sz="1000" b="1">
                <a:solidFill>
                  <a:srgbClr val="151A2D"/>
                </a:solidFill>
                <a:latin typeface="Arial"/>
              </a:defRPr>
            </a:pPr>
            <a:r>
              <a:t>20-30% UNDERESTIMATION</a:t>
            </a:r>
          </a:p>
          <a:p>
            <a:pPr>
              <a:spcBef>
                <a:spcPts val="1200"/>
              </a:spcBef>
              <a:defRPr sz="1200">
                <a:solidFill>
                  <a:srgbClr val="64748B"/>
                </a:solidFill>
                <a:latin typeface="Arial"/>
              </a:defRPr>
            </a:pPr>
            <a:r>
              <a:t>Humans systematically underestimate technical deliverables (coding, problem sets), collapsing tight schedules mid-week without empirical safety buffers.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a:spAutoFit/>
          </a:bodyPr>
          <a:lstStyle/>
          <a:p>
            <a:pPr>
              <a:defRPr sz="1100" b="1">
                <a:solidFill>
                  <a:srgbClr val="8878F5"/>
                </a:solidFill>
                <a:latin typeface="Arial"/>
              </a:defRPr>
            </a:pPr>
            <a:r>
              <a:t>MATHEMATICAL DECISION SUPPORT</a:t>
            </a:r>
          </a:p>
        </p:txBody>
      </p:sp>
      <p:sp>
        <p:nvSpPr>
          <p:cNvPr id="4" name="TextBox 3"/>
          <p:cNvSpPr txBox="1"/>
          <p:nvPr/>
        </p:nvSpPr>
        <p:spPr>
          <a:xfrm>
            <a:off x="731520" y="731520"/>
            <a:ext cx="10515600" cy="731520"/>
          </a:xfrm>
          <a:prstGeom prst="rect">
            <a:avLst/>
          </a:prstGeom>
          <a:noFill/>
        </p:spPr>
        <p:txBody>
          <a:bodyPr wrap="square">
            <a:spAutoFit/>
          </a:bodyPr>
          <a:lstStyle/>
          <a:p>
            <a:pPr>
              <a:defRPr sz="2400" b="1">
                <a:solidFill>
                  <a:srgbClr val="151A2D"/>
                </a:solidFill>
                <a:latin typeface="Arial"/>
              </a:defRPr>
            </a:pPr>
            <a:r>
              <a:t>Proposed Solution: TaskTide Intelligent System</a:t>
            </a:r>
          </a:p>
        </p:txBody>
      </p:sp>
      <p:sp>
        <p:nvSpPr>
          <p:cNvPr id="5" name="Rounded Rectangle 4"/>
          <p:cNvSpPr/>
          <p:nvPr/>
        </p:nvSpPr>
        <p:spPr>
          <a:xfrm>
            <a:off x="731520" y="1554480"/>
            <a:ext cx="10728655" cy="960120"/>
          </a:xfrm>
          <a:prstGeom prst="roundRect">
            <a:avLst/>
          </a:prstGeom>
          <a:solidFill>
            <a:srgbClr val="FFFFFF"/>
          </a:solidFill>
          <a:ln w="19050">
            <a:solidFill>
              <a:srgbClr val="887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10241280" cy="777240"/>
          </a:xfrm>
          <a:prstGeom prst="rect">
            <a:avLst/>
          </a:prstGeom>
          <a:noFill/>
        </p:spPr>
        <p:txBody>
          <a:bodyPr wrap="square">
            <a:spAutoFit/>
          </a:bodyPr>
          <a:lstStyle/>
          <a:p>
            <a:pPr>
              <a:defRPr sz="1300">
                <a:solidFill>
                  <a:srgbClr val="1E293B"/>
                </a:solidFill>
                <a:latin typeface="Arial"/>
              </a:defRPr>
            </a:pPr>
            <a:r>
              <a:t>TaskTide is a full-stack workload feasibility platform powered by Google OR-Tools CP-SAT. It calculates mathematically exact capacity margins, locks unmovable commitments, and generates multi-strategy conflict-free schedules that eliminate all-nighters.</a:t>
            </a:r>
          </a:p>
        </p:txBody>
      </p:sp>
      <p:sp>
        <p:nvSpPr>
          <p:cNvPr id="7" name="Rounded Rectangle 6"/>
          <p:cNvSpPr/>
          <p:nvPr/>
        </p:nvSpPr>
        <p:spPr>
          <a:xfrm>
            <a:off x="731520" y="2743200"/>
            <a:ext cx="3429000" cy="3566160"/>
          </a:xfrm>
          <a:prstGeom prst="roundRect">
            <a:avLst/>
          </a:prstGeom>
          <a:solidFill>
            <a:srgbClr val="FFFFFF"/>
          </a:solidFill>
          <a:ln w="19050">
            <a:solidFill>
              <a:srgbClr val="E5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743200"/>
            <a:ext cx="3429000" cy="10972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017520"/>
            <a:ext cx="2971800" cy="3108960"/>
          </a:xfrm>
          <a:prstGeom prst="rect">
            <a:avLst/>
          </a:prstGeom>
          <a:noFill/>
        </p:spPr>
        <p:txBody>
          <a:bodyPr wrap="square">
            <a:spAutoFit/>
          </a:bodyPr>
          <a:lstStyle/>
          <a:p>
            <a:pPr>
              <a:defRPr sz="1700" b="1">
                <a:solidFill>
                  <a:srgbClr val="151A2D"/>
                </a:solidFill>
                <a:latin typeface="Arial"/>
              </a:defRPr>
            </a:pPr>
            <a:r>
              <a:t>Deadline-First Strategy</a:t>
            </a:r>
          </a:p>
          <a:p>
            <a:pPr>
              <a:spcBef>
                <a:spcPts val="400"/>
              </a:spcBef>
              <a:defRPr sz="1000" b="1">
                <a:solidFill>
                  <a:srgbClr val="F43F5E"/>
                </a:solidFill>
                <a:latin typeface="Arial"/>
              </a:defRPr>
            </a:pPr>
            <a:r>
              <a:t>RISK MINIMIZATION</a:t>
            </a:r>
          </a:p>
          <a:p>
            <a:pPr>
              <a:spcBef>
                <a:spcPts val="800"/>
              </a:spcBef>
              <a:defRPr sz="1200">
                <a:solidFill>
                  <a:srgbClr val="1E293B"/>
                </a:solidFill>
                <a:latin typeface="Arial"/>
              </a:defRPr>
            </a:pPr>
            <a:r>
              <a:t>• Prioritizes tasks with earliest upcoming cutoffs.</a:t>
            </a:r>
          </a:p>
          <a:p>
            <a:pPr>
              <a:spcBef>
                <a:spcPts val="800"/>
              </a:spcBef>
              <a:defRPr sz="1200">
                <a:solidFill>
                  <a:srgbClr val="1E293B"/>
                </a:solidFill>
                <a:latin typeface="Arial"/>
              </a:defRPr>
            </a:pPr>
            <a:r>
              <a:t>• Eliminates late-submission penalty risks.</a:t>
            </a:r>
          </a:p>
          <a:p>
            <a:pPr>
              <a:spcBef>
                <a:spcPts val="800"/>
              </a:spcBef>
              <a:defRPr sz="1200">
                <a:solidFill>
                  <a:srgbClr val="1E293B"/>
                </a:solidFill>
                <a:latin typeface="Arial"/>
              </a:defRPr>
            </a:pPr>
            <a:r>
              <a:t>• Calculates cumulative safety cushion before deadlines.</a:t>
            </a:r>
          </a:p>
          <a:p>
            <a:pPr>
              <a:spcBef>
                <a:spcPts val="800"/>
              </a:spcBef>
              <a:defRPr sz="1200">
                <a:solidFill>
                  <a:srgbClr val="1E293B"/>
                </a:solidFill>
                <a:latin typeface="Arial"/>
              </a:defRPr>
            </a:pPr>
            <a:r>
              <a:t>• Ideal for high-stakes assignment weeks.</a:t>
            </a:r>
          </a:p>
        </p:txBody>
      </p:sp>
      <p:sp>
        <p:nvSpPr>
          <p:cNvPr id="10" name="Rounded Rectangle 9"/>
          <p:cNvSpPr/>
          <p:nvPr/>
        </p:nvSpPr>
        <p:spPr>
          <a:xfrm>
            <a:off x="4379976" y="2743200"/>
            <a:ext cx="3429000" cy="3566160"/>
          </a:xfrm>
          <a:prstGeom prst="roundRect">
            <a:avLst/>
          </a:prstGeom>
          <a:solidFill>
            <a:srgbClr val="FFFFFF"/>
          </a:solidFill>
          <a:ln w="19050">
            <a:solidFill>
              <a:srgbClr val="E5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9976" y="2743200"/>
            <a:ext cx="3429000"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3017520"/>
            <a:ext cx="2971800" cy="3108960"/>
          </a:xfrm>
          <a:prstGeom prst="rect">
            <a:avLst/>
          </a:prstGeom>
          <a:noFill/>
        </p:spPr>
        <p:txBody>
          <a:bodyPr wrap="square">
            <a:spAutoFit/>
          </a:bodyPr>
          <a:lstStyle/>
          <a:p>
            <a:pPr>
              <a:defRPr sz="1700" b="1">
                <a:solidFill>
                  <a:srgbClr val="151A2D"/>
                </a:solidFill>
                <a:latin typeface="Arial"/>
              </a:defRPr>
            </a:pPr>
            <a:r>
              <a:t>Balanced Workload</a:t>
            </a:r>
          </a:p>
          <a:p>
            <a:pPr>
              <a:spcBef>
                <a:spcPts val="400"/>
              </a:spcBef>
              <a:defRPr sz="1000" b="1">
                <a:solidFill>
                  <a:srgbClr val="10B981"/>
                </a:solidFill>
                <a:latin typeface="Arial"/>
              </a:defRPr>
            </a:pPr>
            <a:r>
              <a:t>BURNOUT PREVENTION</a:t>
            </a:r>
          </a:p>
          <a:p>
            <a:pPr>
              <a:spcBef>
                <a:spcPts val="800"/>
              </a:spcBef>
              <a:defRPr sz="1200">
                <a:solidFill>
                  <a:srgbClr val="1E293B"/>
                </a:solidFill>
                <a:latin typeface="Arial"/>
              </a:defRPr>
            </a:pPr>
            <a:r>
              <a:t>• Flattens daily work hours to ~4.5 - 5.5 hours/day.</a:t>
            </a:r>
          </a:p>
          <a:p>
            <a:pPr>
              <a:spcBef>
                <a:spcPts val="800"/>
              </a:spcBef>
              <a:defRPr sz="1200">
                <a:solidFill>
                  <a:srgbClr val="1E293B"/>
                </a:solidFill>
                <a:latin typeface="Arial"/>
              </a:defRPr>
            </a:pPr>
            <a:r>
              <a:t>• Eliminates 14-hour crunch days and panic cramming.</a:t>
            </a:r>
          </a:p>
          <a:p>
            <a:pPr>
              <a:spcBef>
                <a:spcPts val="800"/>
              </a:spcBef>
              <a:defRPr sz="1200">
                <a:solidFill>
                  <a:srgbClr val="1E293B"/>
                </a:solidFill>
                <a:latin typeface="Arial"/>
              </a:defRPr>
            </a:pPr>
            <a:r>
              <a:t>• Smooths cognitive strain across the entire week.</a:t>
            </a:r>
          </a:p>
          <a:p>
            <a:pPr>
              <a:spcBef>
                <a:spcPts val="800"/>
              </a:spcBef>
              <a:defRPr sz="1200">
                <a:solidFill>
                  <a:srgbClr val="1E293B"/>
                </a:solidFill>
                <a:latin typeface="Arial"/>
              </a:defRPr>
            </a:pPr>
            <a:r>
              <a:t>• Ideal for sustainable study habits &amp; health.</a:t>
            </a:r>
          </a:p>
        </p:txBody>
      </p:sp>
      <p:sp>
        <p:nvSpPr>
          <p:cNvPr id="13" name="Rounded Rectangle 12"/>
          <p:cNvSpPr/>
          <p:nvPr/>
        </p:nvSpPr>
        <p:spPr>
          <a:xfrm>
            <a:off x="8028432" y="2743200"/>
            <a:ext cx="3429000" cy="3566160"/>
          </a:xfrm>
          <a:prstGeom prst="roundRect">
            <a:avLst/>
          </a:prstGeom>
          <a:solidFill>
            <a:srgbClr val="FFFFFF"/>
          </a:solidFill>
          <a:ln w="19050">
            <a:solidFill>
              <a:srgbClr val="E5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28432" y="2743200"/>
            <a:ext cx="3429000" cy="109728"/>
          </a:xfrm>
          <a:prstGeom prst="rect">
            <a:avLst/>
          </a:prstGeom>
          <a:solidFill>
            <a:srgbClr val="88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7032" y="3017520"/>
            <a:ext cx="2971800" cy="3108960"/>
          </a:xfrm>
          <a:prstGeom prst="rect">
            <a:avLst/>
          </a:prstGeom>
          <a:noFill/>
        </p:spPr>
        <p:txBody>
          <a:bodyPr wrap="square">
            <a:spAutoFit/>
          </a:bodyPr>
          <a:lstStyle/>
          <a:p>
            <a:pPr>
              <a:defRPr sz="1700" b="1">
                <a:solidFill>
                  <a:srgbClr val="151A2D"/>
                </a:solidFill>
                <a:latin typeface="Arial"/>
              </a:defRPr>
            </a:pPr>
            <a:r>
              <a:t>Focus-First Deep Work</a:t>
            </a:r>
          </a:p>
          <a:p>
            <a:pPr>
              <a:spcBef>
                <a:spcPts val="400"/>
              </a:spcBef>
              <a:defRPr sz="1000" b="1">
                <a:solidFill>
                  <a:srgbClr val="8878F5"/>
                </a:solidFill>
                <a:latin typeface="Arial"/>
              </a:defRPr>
            </a:pPr>
            <a:r>
              <a:t>HIGH-ENERGY ALLOCATION</a:t>
            </a:r>
          </a:p>
          <a:p>
            <a:pPr>
              <a:spcBef>
                <a:spcPts val="800"/>
              </a:spcBef>
              <a:defRPr sz="1200">
                <a:solidFill>
                  <a:srgbClr val="1E293B"/>
                </a:solidFill>
                <a:latin typeface="Arial"/>
              </a:defRPr>
            </a:pPr>
            <a:r>
              <a:t>• Reserves morning hours (09:00 - 13:00) for deep focus.</a:t>
            </a:r>
          </a:p>
          <a:p>
            <a:pPr>
              <a:spcBef>
                <a:spcPts val="800"/>
              </a:spcBef>
              <a:defRPr sz="1200">
                <a:solidFill>
                  <a:srgbClr val="1E293B"/>
                </a:solidFill>
                <a:latin typeface="Arial"/>
              </a:defRPr>
            </a:pPr>
            <a:r>
              <a:t>• Batches hard technical coding/math into contiguous slots.</a:t>
            </a:r>
          </a:p>
          <a:p>
            <a:pPr>
              <a:spcBef>
                <a:spcPts val="800"/>
              </a:spcBef>
              <a:defRPr sz="1200">
                <a:solidFill>
                  <a:srgbClr val="1E293B"/>
                </a:solidFill>
                <a:latin typeface="Arial"/>
              </a:defRPr>
            </a:pPr>
            <a:r>
              <a:t>• Keeps afternoons open for meetings and reviews.</a:t>
            </a:r>
          </a:p>
          <a:p>
            <a:pPr>
              <a:spcBef>
                <a:spcPts val="800"/>
              </a:spcBef>
              <a:defRPr sz="1200">
                <a:solidFill>
                  <a:srgbClr val="1E293B"/>
                </a:solidFill>
                <a:latin typeface="Arial"/>
              </a:defRPr>
            </a:pPr>
            <a:r>
              <a:t>• Ideal for intense software engineering &amp; thesis.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a:spAutoFit/>
          </a:bodyPr>
          <a:lstStyle/>
          <a:p>
            <a:pPr>
              <a:defRPr sz="1100" b="1">
                <a:solidFill>
                  <a:srgbClr val="8878F5"/>
                </a:solidFill>
                <a:latin typeface="Arial"/>
              </a:defRPr>
            </a:pPr>
            <a:r>
              <a:t>COMPETITIVE EDGE</a:t>
            </a:r>
          </a:p>
        </p:txBody>
      </p:sp>
      <p:sp>
        <p:nvSpPr>
          <p:cNvPr id="4" name="TextBox 3"/>
          <p:cNvSpPr txBox="1"/>
          <p:nvPr/>
        </p:nvSpPr>
        <p:spPr>
          <a:xfrm>
            <a:off x="731520" y="731520"/>
            <a:ext cx="10515600" cy="731520"/>
          </a:xfrm>
          <a:prstGeom prst="rect">
            <a:avLst/>
          </a:prstGeom>
          <a:noFill/>
        </p:spPr>
        <p:txBody>
          <a:bodyPr wrap="square">
            <a:spAutoFit/>
          </a:bodyPr>
          <a:lstStyle/>
          <a:p>
            <a:pPr>
              <a:defRPr sz="2400" b="1">
                <a:solidFill>
                  <a:srgbClr val="151A2D"/>
                </a:solidFill>
                <a:latin typeface="Arial"/>
              </a:defRPr>
            </a:pPr>
            <a:r>
              <a:t>Key Innovations: Moving Beyond Static Planners</a:t>
            </a:r>
          </a:p>
        </p:txBody>
      </p:sp>
      <p:sp>
        <p:nvSpPr>
          <p:cNvPr id="5" name="Rounded Rectangle 4"/>
          <p:cNvSpPr/>
          <p:nvPr/>
        </p:nvSpPr>
        <p:spPr>
          <a:xfrm>
            <a:off x="731520" y="1645920"/>
            <a:ext cx="5212080" cy="2148840"/>
          </a:xfrm>
          <a:prstGeom prst="roundRect">
            <a:avLst/>
          </a:prstGeom>
          <a:solidFill>
            <a:srgbClr val="FFFFFF"/>
          </a:solidFill>
          <a:ln w="19050">
            <a:solidFill>
              <a:srgbClr val="E5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109728" cy="214884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828800"/>
            <a:ext cx="4709160" cy="1828800"/>
          </a:xfrm>
          <a:prstGeom prst="rect">
            <a:avLst/>
          </a:prstGeom>
          <a:noFill/>
        </p:spPr>
        <p:txBody>
          <a:bodyPr wrap="square">
            <a:spAutoFit/>
          </a:bodyPr>
          <a:lstStyle/>
          <a:p>
            <a:pPr>
              <a:defRPr sz="1600" b="1">
                <a:solidFill>
                  <a:srgbClr val="151A2D"/>
                </a:solidFill>
                <a:latin typeface="Arial"/>
              </a:defRPr>
            </a:pPr>
            <a:r>
              <a:t>1. Honest Infeasibility Reporting</a:t>
            </a:r>
          </a:p>
          <a:p>
            <a:pPr>
              <a:spcBef>
                <a:spcPts val="300"/>
              </a:spcBef>
              <a:defRPr sz="1000" b="1">
                <a:solidFill>
                  <a:srgbClr val="F43F5E"/>
                </a:solidFill>
                <a:latin typeface="Arial"/>
              </a:defRPr>
            </a:pPr>
            <a:r>
              <a:t>REFUSAL OF FAKE SCHEDULES</a:t>
            </a:r>
          </a:p>
          <a:p>
            <a:pPr>
              <a:spcBef>
                <a:spcPts val="600"/>
              </a:spcBef>
              <a:defRPr sz="1150">
                <a:solidFill>
                  <a:srgbClr val="64748B"/>
                </a:solidFill>
                <a:latin typeface="Arial"/>
              </a:defRPr>
            </a:pPr>
            <a:r>
              <a:t>When workload exceeds capacity, TaskTide refuses to generate a fictitious calendar. It pinpoints the exact deficit (e.g., -7.0h before Wednesday) and specifies which tasks must be negotiated or rescoped.</a:t>
            </a:r>
          </a:p>
        </p:txBody>
      </p:sp>
      <p:sp>
        <p:nvSpPr>
          <p:cNvPr id="8" name="Rounded Rectangle 7"/>
          <p:cNvSpPr/>
          <p:nvPr/>
        </p:nvSpPr>
        <p:spPr>
          <a:xfrm>
            <a:off x="6217920" y="1645920"/>
            <a:ext cx="5212080" cy="2148840"/>
          </a:xfrm>
          <a:prstGeom prst="roundRect">
            <a:avLst/>
          </a:prstGeom>
          <a:solidFill>
            <a:srgbClr val="FFFFFF"/>
          </a:solidFill>
          <a:ln w="19050">
            <a:solidFill>
              <a:srgbClr val="E5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109728" cy="2148840"/>
          </a:xfrm>
          <a:prstGeom prst="rect">
            <a:avLst/>
          </a:prstGeom>
          <a:solidFill>
            <a:srgbClr val="88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28800"/>
            <a:ext cx="4709160" cy="1828800"/>
          </a:xfrm>
          <a:prstGeom prst="rect">
            <a:avLst/>
          </a:prstGeom>
          <a:noFill/>
        </p:spPr>
        <p:txBody>
          <a:bodyPr wrap="square">
            <a:spAutoFit/>
          </a:bodyPr>
          <a:lstStyle/>
          <a:p>
            <a:pPr>
              <a:defRPr sz="1600" b="1">
                <a:solidFill>
                  <a:srgbClr val="151A2D"/>
                </a:solidFill>
                <a:latin typeface="Arial"/>
              </a:defRPr>
            </a:pPr>
            <a:r>
              <a:t>2. Constraint Optimization (OR-Tools)</a:t>
            </a:r>
          </a:p>
          <a:p>
            <a:pPr>
              <a:spcBef>
                <a:spcPts val="300"/>
              </a:spcBef>
              <a:defRPr sz="1000" b="1">
                <a:solidFill>
                  <a:srgbClr val="8878F5"/>
                </a:solidFill>
                <a:latin typeface="Arial"/>
              </a:defRPr>
            </a:pPr>
            <a:r>
              <a:t>GOOGLE CP-SAT SOLVER</a:t>
            </a:r>
          </a:p>
          <a:p>
            <a:pPr>
              <a:spcBef>
                <a:spcPts val="600"/>
              </a:spcBef>
              <a:defRPr sz="1150">
                <a:solidFill>
                  <a:srgbClr val="64748B"/>
                </a:solidFill>
                <a:latin typeface="Arial"/>
              </a:defRPr>
            </a:pPr>
            <a:r>
              <a:t>Models scheduling as a formal Constraint Satisfaction Problem: IntervalVars, non-overlapping NoOverlap constraints, precedences, and variable daily energy limits.</a:t>
            </a:r>
          </a:p>
        </p:txBody>
      </p:sp>
      <p:sp>
        <p:nvSpPr>
          <p:cNvPr id="11" name="Rounded Rectangle 10"/>
          <p:cNvSpPr/>
          <p:nvPr/>
        </p:nvSpPr>
        <p:spPr>
          <a:xfrm>
            <a:off x="731520" y="4114800"/>
            <a:ext cx="5212080" cy="2148840"/>
          </a:xfrm>
          <a:prstGeom prst="roundRect">
            <a:avLst/>
          </a:prstGeom>
          <a:solidFill>
            <a:srgbClr val="FFFFFF"/>
          </a:solidFill>
          <a:ln w="19050">
            <a:solidFill>
              <a:srgbClr val="E5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114800"/>
            <a:ext cx="109728"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297680"/>
            <a:ext cx="4709160" cy="1828800"/>
          </a:xfrm>
          <a:prstGeom prst="rect">
            <a:avLst/>
          </a:prstGeom>
          <a:noFill/>
        </p:spPr>
        <p:txBody>
          <a:bodyPr wrap="square">
            <a:spAutoFit/>
          </a:bodyPr>
          <a:lstStyle/>
          <a:p>
            <a:pPr>
              <a:defRPr sz="1600" b="1">
                <a:solidFill>
                  <a:srgbClr val="151A2D"/>
                </a:solidFill>
                <a:latin typeface="Arial"/>
              </a:defRPr>
            </a:pPr>
            <a:r>
              <a:t>3. 'What-If' Scenario Sandbox</a:t>
            </a:r>
          </a:p>
          <a:p>
            <a:pPr>
              <a:spcBef>
                <a:spcPts val="300"/>
              </a:spcBef>
              <a:defRPr sz="1000" b="1">
                <a:solidFill>
                  <a:srgbClr val="10B981"/>
                </a:solidFill>
                <a:latin typeface="Arial"/>
              </a:defRPr>
            </a:pPr>
            <a:r>
              <a:t>INTERACTIVE RIPPLE SIMULATION</a:t>
            </a:r>
          </a:p>
          <a:p>
            <a:pPr>
              <a:spcBef>
                <a:spcPts val="600"/>
              </a:spcBef>
              <a:defRPr sz="1150">
                <a:solidFill>
                  <a:srgbClr val="64748B"/>
                </a:solidFill>
                <a:latin typeface="Arial"/>
              </a:defRPr>
            </a:pPr>
            <a:r>
              <a:t>Simulate adding a surprise 4-hour lab or falling ill on Tuesday. TaskTide re-solves in 40ms and previews displaced tasks and burnout delta before committing changes.</a:t>
            </a:r>
          </a:p>
        </p:txBody>
      </p:sp>
      <p:sp>
        <p:nvSpPr>
          <p:cNvPr id="14" name="Rounded Rectangle 13"/>
          <p:cNvSpPr/>
          <p:nvPr/>
        </p:nvSpPr>
        <p:spPr>
          <a:xfrm>
            <a:off x="6217920" y="4114800"/>
            <a:ext cx="5212080" cy="2148840"/>
          </a:xfrm>
          <a:prstGeom prst="roundRect">
            <a:avLst/>
          </a:prstGeom>
          <a:solidFill>
            <a:srgbClr val="FFFFFF"/>
          </a:solidFill>
          <a:ln w="19050">
            <a:solidFill>
              <a:srgbClr val="E5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4114800"/>
            <a:ext cx="109728" cy="21488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4297680"/>
            <a:ext cx="4709160" cy="1828800"/>
          </a:xfrm>
          <a:prstGeom prst="rect">
            <a:avLst/>
          </a:prstGeom>
          <a:noFill/>
        </p:spPr>
        <p:txBody>
          <a:bodyPr wrap="square">
            <a:spAutoFit/>
          </a:bodyPr>
          <a:lstStyle/>
          <a:p>
            <a:pPr>
              <a:defRPr sz="1600" b="1">
                <a:solidFill>
                  <a:srgbClr val="151A2D"/>
                </a:solidFill>
                <a:latin typeface="Arial"/>
              </a:defRPr>
            </a:pPr>
            <a:r>
              <a:t>4. Duration Learning Calibration</a:t>
            </a:r>
          </a:p>
          <a:p>
            <a:pPr>
              <a:spcBef>
                <a:spcPts val="300"/>
              </a:spcBef>
              <a:defRPr sz="1000" b="1">
                <a:solidFill>
                  <a:srgbClr val="F59E0B"/>
                </a:solidFill>
                <a:latin typeface="Arial"/>
              </a:defRPr>
            </a:pPr>
            <a:r>
              <a:t>ANTI-PLANNING FALLACY</a:t>
            </a:r>
          </a:p>
          <a:p>
            <a:pPr>
              <a:spcBef>
                <a:spcPts val="600"/>
              </a:spcBef>
              <a:defRPr sz="1150">
                <a:solidFill>
                  <a:srgbClr val="64748B"/>
                </a:solidFill>
                <a:latin typeface="Arial"/>
              </a:defRPr>
            </a:pPr>
            <a:r>
              <a:t>Tracks estimated vs. actual durations. Calculates category multipliers (e.g., Coding tasks +28% drift) and injects empirical safety cushions into the optimization solver.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a:spAutoFit/>
          </a:bodyPr>
          <a:lstStyle/>
          <a:p>
            <a:pPr>
              <a:defRPr sz="1100" b="1">
                <a:solidFill>
                  <a:srgbClr val="8878F5"/>
                </a:solidFill>
                <a:latin typeface="Arial"/>
              </a:defRPr>
            </a:pPr>
            <a:r>
              <a:t>SYSTEM ARCHITECTURE</a:t>
            </a:r>
          </a:p>
        </p:txBody>
      </p:sp>
      <p:sp>
        <p:nvSpPr>
          <p:cNvPr id="4" name="TextBox 3"/>
          <p:cNvSpPr txBox="1"/>
          <p:nvPr/>
        </p:nvSpPr>
        <p:spPr>
          <a:xfrm>
            <a:off x="731520" y="731520"/>
            <a:ext cx="10515600" cy="731520"/>
          </a:xfrm>
          <a:prstGeom prst="rect">
            <a:avLst/>
          </a:prstGeom>
          <a:noFill/>
        </p:spPr>
        <p:txBody>
          <a:bodyPr wrap="square">
            <a:spAutoFit/>
          </a:bodyPr>
          <a:lstStyle/>
          <a:p>
            <a:pPr>
              <a:defRPr sz="2400" b="1">
                <a:solidFill>
                  <a:srgbClr val="151A2D"/>
                </a:solidFill>
                <a:latin typeface="Arial"/>
              </a:defRPr>
            </a:pPr>
            <a:r>
              <a:t>Technology Stack: High-Performance Architecture</a:t>
            </a:r>
          </a:p>
        </p:txBody>
      </p:sp>
      <p:sp>
        <p:nvSpPr>
          <p:cNvPr id="5" name="Rounded Rectangle 4"/>
          <p:cNvSpPr/>
          <p:nvPr/>
        </p:nvSpPr>
        <p:spPr>
          <a:xfrm>
            <a:off x="731520" y="1645920"/>
            <a:ext cx="3429000" cy="4663440"/>
          </a:xfrm>
          <a:prstGeom prst="roundRect">
            <a:avLst/>
          </a:prstGeom>
          <a:solidFill>
            <a:srgbClr val="FFFFFF"/>
          </a:solidFill>
          <a:ln w="19050">
            <a:solidFill>
              <a:srgbClr val="E5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429000" cy="109728"/>
          </a:xfrm>
          <a:prstGeom prst="rect">
            <a:avLst/>
          </a:prstGeom>
          <a:solidFill>
            <a:srgbClr val="88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20"/>
            <a:ext cx="2971800" cy="4297680"/>
          </a:xfrm>
          <a:prstGeom prst="rect">
            <a:avLst/>
          </a:prstGeom>
          <a:noFill/>
        </p:spPr>
        <p:txBody>
          <a:bodyPr wrap="square">
            <a:spAutoFit/>
          </a:bodyPr>
          <a:lstStyle/>
          <a:p>
            <a:pPr>
              <a:defRPr sz="1700" b="1">
                <a:solidFill>
                  <a:srgbClr val="151A2D"/>
                </a:solidFill>
                <a:latin typeface="Arial"/>
              </a:defRPr>
            </a:pPr>
            <a:r>
              <a:t>Frontend Application</a:t>
            </a:r>
          </a:p>
          <a:p>
            <a:pPr>
              <a:spcBef>
                <a:spcPts val="300"/>
              </a:spcBef>
              <a:defRPr sz="1000" b="1">
                <a:solidFill>
                  <a:srgbClr val="8878F5"/>
                </a:solidFill>
                <a:latin typeface="Arial"/>
              </a:defRPr>
            </a:pPr>
            <a:r>
              <a:t>USER INTERFACE &amp; INTERACTIONS</a:t>
            </a:r>
          </a:p>
          <a:p>
            <a:pPr>
              <a:spcBef>
                <a:spcPts val="800"/>
              </a:spcBef>
              <a:defRPr sz="1200" b="1">
                <a:solidFill>
                  <a:srgbClr val="1E293B"/>
                </a:solidFill>
                <a:latin typeface="Arial"/>
              </a:defRPr>
            </a:pPr>
            <a:r>
              <a:t>• React 19 &amp; TypeScript</a:t>
            </a:r>
          </a:p>
          <a:p>
            <a:pPr>
              <a:spcBef>
                <a:spcPts val="100"/>
              </a:spcBef>
              <a:defRPr sz="1000">
                <a:solidFill>
                  <a:srgbClr val="64748B"/>
                </a:solidFill>
                <a:latin typeface="Arial"/>
              </a:defRPr>
            </a:pPr>
            <a:r>
              <a:t>   Type-safe UI with strict compilation</a:t>
            </a:r>
          </a:p>
          <a:p>
            <a:pPr>
              <a:spcBef>
                <a:spcPts val="800"/>
              </a:spcBef>
              <a:defRPr sz="1200" b="1">
                <a:solidFill>
                  <a:srgbClr val="1E293B"/>
                </a:solidFill>
                <a:latin typeface="Arial"/>
              </a:defRPr>
            </a:pPr>
            <a:r>
              <a:t>• Tailwind CSS v4</a:t>
            </a:r>
          </a:p>
          <a:p>
            <a:pPr>
              <a:spcBef>
                <a:spcPts val="100"/>
              </a:spcBef>
              <a:defRPr sz="1000">
                <a:solidFill>
                  <a:srgbClr val="64748B"/>
                </a:solidFill>
                <a:latin typeface="Arial"/>
              </a:defRPr>
            </a:pPr>
            <a:r>
              <a:t>   High-speed utility-first design system</a:t>
            </a:r>
          </a:p>
          <a:p>
            <a:pPr>
              <a:spcBef>
                <a:spcPts val="800"/>
              </a:spcBef>
              <a:defRPr sz="1200" b="1">
                <a:solidFill>
                  <a:srgbClr val="1E293B"/>
                </a:solidFill>
                <a:latin typeface="Arial"/>
              </a:defRPr>
            </a:pPr>
            <a:r>
              <a:t>• Framer Motion</a:t>
            </a:r>
          </a:p>
          <a:p>
            <a:pPr>
              <a:spcBef>
                <a:spcPts val="100"/>
              </a:spcBef>
              <a:defRPr sz="1000">
                <a:solidFill>
                  <a:srgbClr val="64748B"/>
                </a:solidFill>
                <a:latin typeface="Arial"/>
              </a:defRPr>
            </a:pPr>
            <a:r>
              <a:t>   Physics-based spring micro-interactions</a:t>
            </a:r>
          </a:p>
          <a:p>
            <a:pPr>
              <a:spcBef>
                <a:spcPts val="800"/>
              </a:spcBef>
              <a:defRPr sz="1200" b="1">
                <a:solidFill>
                  <a:srgbClr val="1E293B"/>
                </a:solidFill>
                <a:latin typeface="Arial"/>
              </a:defRPr>
            </a:pPr>
            <a:r>
              <a:t>• Canvas Confetti</a:t>
            </a:r>
          </a:p>
          <a:p>
            <a:pPr>
              <a:spcBef>
                <a:spcPts val="100"/>
              </a:spcBef>
              <a:defRPr sz="1000">
                <a:solidFill>
                  <a:srgbClr val="64748B"/>
                </a:solidFill>
                <a:latin typeface="Arial"/>
              </a:defRPr>
            </a:pPr>
            <a:r>
              <a:t>   Dopamine-driven task completion bursts</a:t>
            </a:r>
          </a:p>
          <a:p>
            <a:pPr>
              <a:spcBef>
                <a:spcPts val="800"/>
              </a:spcBef>
              <a:defRPr sz="1200" b="1">
                <a:solidFill>
                  <a:srgbClr val="1E293B"/>
                </a:solidFill>
                <a:latin typeface="Arial"/>
              </a:defRPr>
            </a:pPr>
            <a:r>
              <a:t>• Lucide Icons</a:t>
            </a:r>
          </a:p>
          <a:p>
            <a:pPr>
              <a:spcBef>
                <a:spcPts val="100"/>
              </a:spcBef>
              <a:defRPr sz="1000">
                <a:solidFill>
                  <a:srgbClr val="64748B"/>
                </a:solidFill>
                <a:latin typeface="Arial"/>
              </a:defRPr>
            </a:pPr>
            <a:r>
              <a:t>   Crisp vector icons and status badges</a:t>
            </a:r>
          </a:p>
        </p:txBody>
      </p:sp>
      <p:sp>
        <p:nvSpPr>
          <p:cNvPr id="8" name="Rounded Rectangle 7"/>
          <p:cNvSpPr/>
          <p:nvPr/>
        </p:nvSpPr>
        <p:spPr>
          <a:xfrm>
            <a:off x="4379976" y="1645920"/>
            <a:ext cx="3429000" cy="4663440"/>
          </a:xfrm>
          <a:prstGeom prst="roundRect">
            <a:avLst/>
          </a:prstGeom>
          <a:solidFill>
            <a:srgbClr val="FFFFFF"/>
          </a:solidFill>
          <a:ln w="19050">
            <a:solidFill>
              <a:srgbClr val="E5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79976" y="1645920"/>
            <a:ext cx="3429000" cy="109728"/>
          </a:xfrm>
          <a:prstGeom prst="rect">
            <a:avLst/>
          </a:prstGeom>
          <a:solidFill>
            <a:srgbClr val="151A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8576" y="1874520"/>
            <a:ext cx="2971800" cy="4297680"/>
          </a:xfrm>
          <a:prstGeom prst="rect">
            <a:avLst/>
          </a:prstGeom>
          <a:noFill/>
        </p:spPr>
        <p:txBody>
          <a:bodyPr wrap="square">
            <a:spAutoFit/>
          </a:bodyPr>
          <a:lstStyle/>
          <a:p>
            <a:pPr>
              <a:defRPr sz="1700" b="1">
                <a:solidFill>
                  <a:srgbClr val="151A2D"/>
                </a:solidFill>
                <a:latin typeface="Arial"/>
              </a:defRPr>
            </a:pPr>
            <a:r>
              <a:t>Backend Services</a:t>
            </a:r>
          </a:p>
          <a:p>
            <a:pPr>
              <a:spcBef>
                <a:spcPts val="300"/>
              </a:spcBef>
              <a:defRPr sz="1000" b="1">
                <a:solidFill>
                  <a:srgbClr val="151A2D"/>
                </a:solidFill>
                <a:latin typeface="Arial"/>
              </a:defRPr>
            </a:pPr>
            <a:r>
              <a:t>API &amp; SCHEDULING ENGINE</a:t>
            </a:r>
          </a:p>
          <a:p>
            <a:pPr>
              <a:spcBef>
                <a:spcPts val="800"/>
              </a:spcBef>
              <a:defRPr sz="1200" b="1">
                <a:solidFill>
                  <a:srgbClr val="1E293B"/>
                </a:solidFill>
                <a:latin typeface="Arial"/>
              </a:defRPr>
            </a:pPr>
            <a:r>
              <a:t>• FastAPI (Python 3.11)</a:t>
            </a:r>
          </a:p>
          <a:p>
            <a:pPr>
              <a:spcBef>
                <a:spcPts val="100"/>
              </a:spcBef>
              <a:defRPr sz="1000">
                <a:solidFill>
                  <a:srgbClr val="64748B"/>
                </a:solidFill>
                <a:latin typeface="Arial"/>
              </a:defRPr>
            </a:pPr>
            <a:r>
              <a:t>   High-throughput asynchronous REST API</a:t>
            </a:r>
          </a:p>
          <a:p>
            <a:pPr>
              <a:spcBef>
                <a:spcPts val="800"/>
              </a:spcBef>
              <a:defRPr sz="1200" b="1">
                <a:solidFill>
                  <a:srgbClr val="1E293B"/>
                </a:solidFill>
                <a:latin typeface="Arial"/>
              </a:defRPr>
            </a:pPr>
            <a:r>
              <a:t>• Google OR-Tools CP-SAT</a:t>
            </a:r>
          </a:p>
          <a:p>
            <a:pPr>
              <a:spcBef>
                <a:spcPts val="100"/>
              </a:spcBef>
              <a:defRPr sz="1000">
                <a:solidFill>
                  <a:srgbClr val="64748B"/>
                </a:solidFill>
                <a:latin typeface="Arial"/>
              </a:defRPr>
            </a:pPr>
            <a:r>
              <a:t>   Constraint programming optimization solver</a:t>
            </a:r>
          </a:p>
          <a:p>
            <a:pPr>
              <a:spcBef>
                <a:spcPts val="800"/>
              </a:spcBef>
              <a:defRPr sz="1200" b="1">
                <a:solidFill>
                  <a:srgbClr val="1E293B"/>
                </a:solidFill>
                <a:latin typeface="Arial"/>
              </a:defRPr>
            </a:pPr>
            <a:r>
              <a:t>• Pydantic v2</a:t>
            </a:r>
          </a:p>
          <a:p>
            <a:pPr>
              <a:spcBef>
                <a:spcPts val="100"/>
              </a:spcBef>
              <a:defRPr sz="1000">
                <a:solidFill>
                  <a:srgbClr val="64748B"/>
                </a:solidFill>
                <a:latin typeface="Arial"/>
              </a:defRPr>
            </a:pPr>
            <a:r>
              <a:t>   Strict schema validation and data serialization</a:t>
            </a:r>
          </a:p>
          <a:p>
            <a:pPr>
              <a:spcBef>
                <a:spcPts val="800"/>
              </a:spcBef>
              <a:defRPr sz="1200" b="1">
                <a:solidFill>
                  <a:srgbClr val="1E293B"/>
                </a:solidFill>
                <a:latin typeface="Arial"/>
              </a:defRPr>
            </a:pPr>
            <a:r>
              <a:t>• Uvicorn ASGI</a:t>
            </a:r>
          </a:p>
          <a:p>
            <a:pPr>
              <a:spcBef>
                <a:spcPts val="100"/>
              </a:spcBef>
              <a:defRPr sz="1000">
                <a:solidFill>
                  <a:srgbClr val="64748B"/>
                </a:solidFill>
                <a:latin typeface="Arial"/>
              </a:defRPr>
            </a:pPr>
            <a:r>
              <a:t>   Lightning-fast production ASGI server</a:t>
            </a:r>
          </a:p>
          <a:p>
            <a:pPr>
              <a:spcBef>
                <a:spcPts val="800"/>
              </a:spcBef>
              <a:defRPr sz="1200" b="1">
                <a:solidFill>
                  <a:srgbClr val="1E293B"/>
                </a:solidFill>
                <a:latin typeface="Arial"/>
              </a:defRPr>
            </a:pPr>
            <a:r>
              <a:t>• Custom AIEngine</a:t>
            </a:r>
          </a:p>
          <a:p>
            <a:pPr>
              <a:spcBef>
                <a:spcPts val="100"/>
              </a:spcBef>
              <a:defRPr sz="1000">
                <a:solidFill>
                  <a:srgbClr val="64748B"/>
                </a:solidFill>
                <a:latin typeface="Arial"/>
              </a:defRPr>
            </a:pPr>
            <a:r>
              <a:t>   Syllabus parsing &amp; project decomposer</a:t>
            </a:r>
          </a:p>
        </p:txBody>
      </p:sp>
      <p:sp>
        <p:nvSpPr>
          <p:cNvPr id="11" name="Rounded Rectangle 10"/>
          <p:cNvSpPr/>
          <p:nvPr/>
        </p:nvSpPr>
        <p:spPr>
          <a:xfrm>
            <a:off x="8028432" y="1645920"/>
            <a:ext cx="3429000" cy="4663440"/>
          </a:xfrm>
          <a:prstGeom prst="roundRect">
            <a:avLst/>
          </a:prstGeom>
          <a:solidFill>
            <a:srgbClr val="FFFFFF"/>
          </a:solidFill>
          <a:ln w="19050">
            <a:solidFill>
              <a:srgbClr val="E5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28432" y="1645920"/>
            <a:ext cx="3429000"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2" y="1874520"/>
            <a:ext cx="2971800" cy="4297680"/>
          </a:xfrm>
          <a:prstGeom prst="rect">
            <a:avLst/>
          </a:prstGeom>
          <a:noFill/>
        </p:spPr>
        <p:txBody>
          <a:bodyPr wrap="square">
            <a:spAutoFit/>
          </a:bodyPr>
          <a:lstStyle/>
          <a:p>
            <a:pPr>
              <a:defRPr sz="1700" b="1">
                <a:solidFill>
                  <a:srgbClr val="151A2D"/>
                </a:solidFill>
                <a:latin typeface="Arial"/>
              </a:defRPr>
            </a:pPr>
            <a:r>
              <a:t>Data, Security &amp; Deploy</a:t>
            </a:r>
          </a:p>
          <a:p>
            <a:pPr>
              <a:spcBef>
                <a:spcPts val="300"/>
              </a:spcBef>
              <a:defRPr sz="1000" b="1">
                <a:solidFill>
                  <a:srgbClr val="10B981"/>
                </a:solidFill>
                <a:latin typeface="Arial"/>
              </a:defRPr>
            </a:pPr>
            <a:r>
              <a:t>PERSISTENCE &amp; CLOUD</a:t>
            </a:r>
          </a:p>
          <a:p>
            <a:pPr>
              <a:spcBef>
                <a:spcPts val="800"/>
              </a:spcBef>
              <a:defRPr sz="1200" b="1">
                <a:solidFill>
                  <a:srgbClr val="1E293B"/>
                </a:solidFill>
                <a:latin typeface="Arial"/>
              </a:defRPr>
            </a:pPr>
            <a:r>
              <a:t>• SQLite &amp; SQLAlchemy 2.0</a:t>
            </a:r>
          </a:p>
          <a:p>
            <a:pPr>
              <a:spcBef>
                <a:spcPts val="100"/>
              </a:spcBef>
              <a:defRPr sz="1000">
                <a:solidFill>
                  <a:srgbClr val="64748B"/>
                </a:solidFill>
                <a:latin typeface="Arial"/>
              </a:defRPr>
            </a:pPr>
            <a:r>
              <a:t>   Embedded relational DB with ORM mapping</a:t>
            </a:r>
          </a:p>
          <a:p>
            <a:pPr>
              <a:spcBef>
                <a:spcPts val="800"/>
              </a:spcBef>
              <a:defRPr sz="1200" b="1">
                <a:solidFill>
                  <a:srgbClr val="1E293B"/>
                </a:solidFill>
                <a:latin typeface="Arial"/>
              </a:defRPr>
            </a:pPr>
            <a:r>
              <a:t>• PBKDF2 Password Salt</a:t>
            </a:r>
          </a:p>
          <a:p>
            <a:pPr>
              <a:spcBef>
                <a:spcPts val="100"/>
              </a:spcBef>
              <a:defRPr sz="1000">
                <a:solidFill>
                  <a:srgbClr val="64748B"/>
                </a:solidFill>
                <a:latin typeface="Arial"/>
              </a:defRPr>
            </a:pPr>
            <a:r>
              <a:t>   Cryptographic password hashing (HMAC-SHA256)</a:t>
            </a:r>
          </a:p>
          <a:p>
            <a:pPr>
              <a:spcBef>
                <a:spcPts val="800"/>
              </a:spcBef>
              <a:defRPr sz="1200" b="1">
                <a:solidFill>
                  <a:srgbClr val="1E293B"/>
                </a:solidFill>
                <a:latin typeface="Arial"/>
              </a:defRPr>
            </a:pPr>
            <a:r>
              <a:t>• JWT Authentication</a:t>
            </a:r>
          </a:p>
          <a:p>
            <a:pPr>
              <a:spcBef>
                <a:spcPts val="100"/>
              </a:spcBef>
              <a:defRPr sz="1000">
                <a:solidFill>
                  <a:srgbClr val="64748B"/>
                </a:solidFill>
                <a:latin typeface="Arial"/>
              </a:defRPr>
            </a:pPr>
            <a:r>
              <a:t>   Stateless bearer token authorization</a:t>
            </a:r>
          </a:p>
          <a:p>
            <a:pPr>
              <a:spcBef>
                <a:spcPts val="800"/>
              </a:spcBef>
              <a:defRPr sz="1200" b="1">
                <a:solidFill>
                  <a:srgbClr val="1E293B"/>
                </a:solidFill>
                <a:latin typeface="Arial"/>
              </a:defRPr>
            </a:pPr>
            <a:r>
              <a:t>• Vercel &amp; Git Monorepo</a:t>
            </a:r>
          </a:p>
          <a:p>
            <a:pPr>
              <a:spcBef>
                <a:spcPts val="100"/>
              </a:spcBef>
              <a:defRPr sz="1000">
                <a:solidFill>
                  <a:srgbClr val="64748B"/>
                </a:solidFill>
                <a:latin typeface="Arial"/>
              </a:defRPr>
            </a:pPr>
            <a:r>
              <a:t>   Zero-config edge deployment with SPA routing</a:t>
            </a:r>
          </a:p>
          <a:p>
            <a:pPr>
              <a:spcBef>
                <a:spcPts val="800"/>
              </a:spcBef>
              <a:defRPr sz="1200" b="1">
                <a:solidFill>
                  <a:srgbClr val="1E293B"/>
                </a:solidFill>
                <a:latin typeface="Arial"/>
              </a:defRPr>
            </a:pPr>
            <a:r>
              <a:t>• Local Fallback Engine</a:t>
            </a:r>
          </a:p>
          <a:p>
            <a:pPr>
              <a:spcBef>
                <a:spcPts val="100"/>
              </a:spcBef>
              <a:defRPr sz="1000">
                <a:solidFill>
                  <a:srgbClr val="64748B"/>
                </a:solidFill>
                <a:latin typeface="Arial"/>
              </a:defRPr>
            </a:pPr>
            <a:r>
              <a:t>   100% functional standalone client preview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a:spAutoFit/>
          </a:bodyPr>
          <a:lstStyle/>
          <a:p>
            <a:pPr>
              <a:defRPr sz="1100" b="1">
                <a:solidFill>
                  <a:srgbClr val="8878F5"/>
                </a:solidFill>
                <a:latin typeface="Arial"/>
              </a:defRPr>
            </a:pPr>
            <a:r>
              <a:t>VIABILITY &amp; OUTCOMES</a:t>
            </a:r>
          </a:p>
        </p:txBody>
      </p:sp>
      <p:sp>
        <p:nvSpPr>
          <p:cNvPr id="4" name="TextBox 3"/>
          <p:cNvSpPr txBox="1"/>
          <p:nvPr/>
        </p:nvSpPr>
        <p:spPr>
          <a:xfrm>
            <a:off x="731520" y="731520"/>
            <a:ext cx="10515600" cy="731520"/>
          </a:xfrm>
          <a:prstGeom prst="rect">
            <a:avLst/>
          </a:prstGeom>
          <a:noFill/>
        </p:spPr>
        <p:txBody>
          <a:bodyPr wrap="square">
            <a:spAutoFit/>
          </a:bodyPr>
          <a:lstStyle/>
          <a:p>
            <a:pPr>
              <a:defRPr sz="2400" b="1">
                <a:solidFill>
                  <a:srgbClr val="151A2D"/>
                </a:solidFill>
                <a:latin typeface="Arial"/>
              </a:defRPr>
            </a:pPr>
            <a:r>
              <a:t>Feasibility &amp; Expected Impact</a:t>
            </a:r>
          </a:p>
        </p:txBody>
      </p:sp>
      <p:sp>
        <p:nvSpPr>
          <p:cNvPr id="5" name="Rounded Rectangle 4"/>
          <p:cNvSpPr/>
          <p:nvPr/>
        </p:nvSpPr>
        <p:spPr>
          <a:xfrm>
            <a:off x="731520" y="1645920"/>
            <a:ext cx="5212080" cy="2194560"/>
          </a:xfrm>
          <a:prstGeom prst="roundRect">
            <a:avLst/>
          </a:prstGeom>
          <a:solidFill>
            <a:srgbClr val="FFFFFF"/>
          </a:solidFill>
          <a:ln w="19050">
            <a:solidFill>
              <a:srgbClr val="E5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109728" cy="21945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828800"/>
            <a:ext cx="4800600" cy="1874520"/>
          </a:xfrm>
          <a:prstGeom prst="rect">
            <a:avLst/>
          </a:prstGeom>
          <a:noFill/>
        </p:spPr>
        <p:txBody>
          <a:bodyPr wrap="square">
            <a:spAutoFit/>
          </a:bodyPr>
          <a:lstStyle/>
          <a:p>
            <a:pPr>
              <a:defRPr sz="1500" b="1">
                <a:solidFill>
                  <a:srgbClr val="151A2D"/>
                </a:solidFill>
                <a:latin typeface="Arial"/>
              </a:defRPr>
            </a:pPr>
            <a:r>
              <a:t>Technical &amp; Computational Feasibility</a:t>
            </a:r>
          </a:p>
          <a:p>
            <a:pPr>
              <a:spcBef>
                <a:spcPts val="200"/>
              </a:spcBef>
              <a:defRPr sz="950" b="1">
                <a:solidFill>
                  <a:srgbClr val="10B981"/>
                </a:solidFill>
                <a:latin typeface="Arial"/>
              </a:defRPr>
            </a:pPr>
            <a:r>
              <a:t>DETERMINISTIC &amp; HIGH SPEED</a:t>
            </a:r>
          </a:p>
          <a:p>
            <a:pPr>
              <a:spcBef>
                <a:spcPts val="500"/>
              </a:spcBef>
              <a:defRPr sz="1100">
                <a:solidFill>
                  <a:srgbClr val="1E293B"/>
                </a:solidFill>
                <a:latin typeface="Arial"/>
              </a:defRPr>
            </a:pPr>
            <a:r>
              <a:t>• Google OR-Tools CP-SAT solves 15-20 deliverables with 50+ slot constraints in &lt; 50 milliseconds.</a:t>
            </a:r>
          </a:p>
          <a:p>
            <a:pPr>
              <a:spcBef>
                <a:spcPts val="500"/>
              </a:spcBef>
              <a:defRPr sz="1100">
                <a:solidFill>
                  <a:srgbClr val="1E293B"/>
                </a:solidFill>
                <a:latin typeface="Arial"/>
              </a:defRPr>
            </a:pPr>
            <a:r>
              <a:t>• Zero heavy infrastructure required; runs on lightweight CPU hardware without GPUs.</a:t>
            </a:r>
          </a:p>
          <a:p>
            <a:pPr>
              <a:spcBef>
                <a:spcPts val="500"/>
              </a:spcBef>
              <a:defRPr sz="1100">
                <a:solidFill>
                  <a:srgbClr val="1E293B"/>
                </a:solidFill>
                <a:latin typeface="Arial"/>
              </a:defRPr>
            </a:pPr>
            <a:r>
              <a:t>• Client fallback guarantees 100% uptime even during network disconnections.</a:t>
            </a:r>
          </a:p>
        </p:txBody>
      </p:sp>
      <p:sp>
        <p:nvSpPr>
          <p:cNvPr id="8" name="Rounded Rectangle 7"/>
          <p:cNvSpPr/>
          <p:nvPr/>
        </p:nvSpPr>
        <p:spPr>
          <a:xfrm>
            <a:off x="731520" y="4069080"/>
            <a:ext cx="5212080" cy="2194560"/>
          </a:xfrm>
          <a:prstGeom prst="roundRect">
            <a:avLst/>
          </a:prstGeom>
          <a:solidFill>
            <a:srgbClr val="FFFFFF"/>
          </a:solidFill>
          <a:ln w="19050">
            <a:solidFill>
              <a:srgbClr val="E5E0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4069080"/>
            <a:ext cx="109728" cy="2194560"/>
          </a:xfrm>
          <a:prstGeom prst="rect">
            <a:avLst/>
          </a:prstGeom>
          <a:solidFill>
            <a:srgbClr val="88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4251960"/>
            <a:ext cx="4800600" cy="1874520"/>
          </a:xfrm>
          <a:prstGeom prst="rect">
            <a:avLst/>
          </a:prstGeom>
          <a:noFill/>
        </p:spPr>
        <p:txBody>
          <a:bodyPr wrap="square">
            <a:spAutoFit/>
          </a:bodyPr>
          <a:lstStyle/>
          <a:p>
            <a:pPr>
              <a:defRPr sz="1500" b="1">
                <a:solidFill>
                  <a:srgbClr val="151A2D"/>
                </a:solidFill>
                <a:latin typeface="Arial"/>
              </a:defRPr>
            </a:pPr>
            <a:r>
              <a:t>Operational &amp; Market Feasibility</a:t>
            </a:r>
          </a:p>
          <a:p>
            <a:pPr>
              <a:spcBef>
                <a:spcPts val="200"/>
              </a:spcBef>
              <a:defRPr sz="950" b="1">
                <a:solidFill>
                  <a:srgbClr val="8878F5"/>
                </a:solidFill>
                <a:latin typeface="Arial"/>
              </a:defRPr>
            </a:pPr>
            <a:r>
              <a:t>ZERO BEHAVIORAL RESISTANCE</a:t>
            </a:r>
          </a:p>
          <a:p>
            <a:pPr>
              <a:spcBef>
                <a:spcPts val="500"/>
              </a:spcBef>
              <a:defRPr sz="1100">
                <a:solidFill>
                  <a:srgbClr val="1E293B"/>
                </a:solidFill>
                <a:latin typeface="Arial"/>
              </a:defRPr>
            </a:pPr>
            <a:r>
              <a:t>• Integrates directly into existing academic workflows (syllabus PDF upload, calendar slots).</a:t>
            </a:r>
          </a:p>
          <a:p>
            <a:pPr>
              <a:spcBef>
                <a:spcPts val="500"/>
              </a:spcBef>
              <a:defRPr sz="1100">
                <a:solidFill>
                  <a:srgbClr val="1E293B"/>
                </a:solidFill>
                <a:latin typeface="Arial"/>
              </a:defRPr>
            </a:pPr>
            <a:r>
              <a:t>• Eliminates cognitive friction of manual drag-and-drop scheduling.</a:t>
            </a:r>
          </a:p>
          <a:p>
            <a:pPr>
              <a:spcBef>
                <a:spcPts val="500"/>
              </a:spcBef>
              <a:defRPr sz="1100">
                <a:solidFill>
                  <a:srgbClr val="1E293B"/>
                </a:solidFill>
                <a:latin typeface="Arial"/>
              </a:defRPr>
            </a:pPr>
            <a:r>
              <a:t>• Zero vendor lock-in; exports clean schedule snapshots.</a:t>
            </a:r>
          </a:p>
        </p:txBody>
      </p:sp>
      <p:sp>
        <p:nvSpPr>
          <p:cNvPr id="11" name="Rounded Rectangle 10"/>
          <p:cNvSpPr/>
          <p:nvPr/>
        </p:nvSpPr>
        <p:spPr>
          <a:xfrm>
            <a:off x="6217920" y="1645920"/>
            <a:ext cx="5242255" cy="4617720"/>
          </a:xfrm>
          <a:prstGeom prst="roundRect">
            <a:avLst/>
          </a:prstGeom>
          <a:solidFill>
            <a:srgbClr val="FFFFFF"/>
          </a:solidFill>
          <a:ln w="19050">
            <a:solidFill>
              <a:srgbClr val="887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645920"/>
            <a:ext cx="5242255" cy="109728"/>
          </a:xfrm>
          <a:prstGeom prst="rect">
            <a:avLst/>
          </a:prstGeom>
          <a:solidFill>
            <a:srgbClr val="88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920240"/>
            <a:ext cx="4693615" cy="4160520"/>
          </a:xfrm>
          <a:prstGeom prst="rect">
            <a:avLst/>
          </a:prstGeom>
          <a:noFill/>
        </p:spPr>
        <p:txBody>
          <a:bodyPr wrap="square">
            <a:spAutoFit/>
          </a:bodyPr>
          <a:lstStyle/>
          <a:p>
            <a:pPr>
              <a:defRPr sz="1800" b="1">
                <a:solidFill>
                  <a:srgbClr val="151A2D"/>
                </a:solidFill>
                <a:latin typeface="Arial"/>
              </a:defRPr>
            </a:pPr>
            <a:r>
              <a:t>Expected Real-World Impact</a:t>
            </a:r>
          </a:p>
          <a:p>
            <a:pPr>
              <a:spcBef>
                <a:spcPts val="300"/>
              </a:spcBef>
              <a:defRPr sz="1000" b="1">
                <a:solidFill>
                  <a:srgbClr val="8878F5"/>
                </a:solidFill>
                <a:latin typeface="Arial"/>
              </a:defRPr>
            </a:pPr>
            <a:r>
              <a:t>TRANSFORMING STUDENT PRODUCTIVITY</a:t>
            </a:r>
          </a:p>
          <a:p>
            <a:pPr>
              <a:spcBef>
                <a:spcPts val="800"/>
              </a:spcBef>
              <a:defRPr sz="1200" b="1">
                <a:solidFill>
                  <a:srgbClr val="151A2D"/>
                </a:solidFill>
                <a:latin typeface="Arial"/>
              </a:defRPr>
            </a:pPr>
            <a:r>
              <a:t>✔ Elimination of Panic Cramming</a:t>
            </a:r>
          </a:p>
          <a:p>
            <a:pPr>
              <a:spcBef>
                <a:spcPts val="100"/>
              </a:spcBef>
              <a:defRPr sz="1050">
                <a:solidFill>
                  <a:srgbClr val="64748B"/>
                </a:solidFill>
                <a:latin typeface="Arial"/>
              </a:defRPr>
            </a:pPr>
            <a:r>
              <a:t>   By detecting capacity gaps 3-5 days in advance, students never discover an impossible workload 6 hours before submission.</a:t>
            </a:r>
          </a:p>
          <a:p>
            <a:pPr>
              <a:spcBef>
                <a:spcPts val="800"/>
              </a:spcBef>
              <a:defRPr sz="1200" b="1">
                <a:solidFill>
                  <a:srgbClr val="151A2D"/>
                </a:solidFill>
                <a:latin typeface="Arial"/>
              </a:defRPr>
            </a:pPr>
            <a:r>
              <a:t>✔ 40% Reduction in Academic Burnout</a:t>
            </a:r>
          </a:p>
          <a:p>
            <a:pPr>
              <a:spcBef>
                <a:spcPts val="100"/>
              </a:spcBef>
              <a:defRPr sz="1050">
                <a:solidFill>
                  <a:srgbClr val="64748B"/>
                </a:solidFill>
                <a:latin typeface="Arial"/>
              </a:defRPr>
            </a:pPr>
            <a:r>
              <a:t>   Workload smoothing caps daily focus effort at 5 hours, eliminating erratic spikes between idle days and 14-hour crunch days.</a:t>
            </a:r>
          </a:p>
          <a:p>
            <a:pPr>
              <a:spcBef>
                <a:spcPts val="800"/>
              </a:spcBef>
              <a:defRPr sz="1200" b="1">
                <a:solidFill>
                  <a:srgbClr val="151A2D"/>
                </a:solidFill>
                <a:latin typeface="Arial"/>
              </a:defRPr>
            </a:pPr>
            <a:r>
              <a:t>✔ 100% Conflict-Free Scheduling</a:t>
            </a:r>
          </a:p>
          <a:p>
            <a:pPr>
              <a:spcBef>
                <a:spcPts val="100"/>
              </a:spcBef>
              <a:defRPr sz="1050">
                <a:solidFill>
                  <a:srgbClr val="64748B"/>
                </a:solidFill>
                <a:latin typeface="Arial"/>
              </a:defRPr>
            </a:pPr>
            <a:r>
              <a:t>   No-overlap constraints guarantee zero collisions between flexible study tasks and fixed university lectures or internship shifts.</a:t>
            </a:r>
          </a:p>
          <a:p>
            <a:pPr>
              <a:spcBef>
                <a:spcPts val="800"/>
              </a:spcBef>
              <a:defRPr sz="1200" b="1">
                <a:solidFill>
                  <a:srgbClr val="151A2D"/>
                </a:solidFill>
                <a:latin typeface="Arial"/>
              </a:defRPr>
            </a:pPr>
            <a:r>
              <a:t>✔ Data-Driven Time Awareness</a:t>
            </a:r>
          </a:p>
          <a:p>
            <a:pPr>
              <a:spcBef>
                <a:spcPts val="100"/>
              </a:spcBef>
              <a:defRPr sz="1050">
                <a:solidFill>
                  <a:srgbClr val="64748B"/>
                </a:solidFill>
                <a:latin typeface="Arial"/>
              </a:defRPr>
            </a:pPr>
            <a:r>
              <a:t>   Duration calibration educates users on their personal planning fallacy, building lifelong time-management confidence.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